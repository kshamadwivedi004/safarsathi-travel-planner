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667EEA"/>
                </a:solidFill>
              </a:defRPr>
            </a:pPr>
            <a:r>
              <a:t>SafarSathi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764BA2"/>
                </a:solidFill>
              </a:defRPr>
            </a:pPr>
            <a:r>
              <a:t>AI-Powered Travel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PROJECT SYNOPSIS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SafarSathi - Your AI Travel Companion</a:t>
            </a:r>
          </a:p>
          <a:p>
            <a:pPr lvl="1">
              <a:defRPr sz="1800"/>
            </a:pPr>
            <a:r>
              <a:t>Intelligent AI-powered travel planning application</a:t>
            </a:r>
          </a:p>
          <a:p>
            <a:pPr lvl="1">
              <a:defRPr sz="1800"/>
            </a:pPr>
            <a:r>
              <a:t>Creates personalized travel itineraries in minutes</a:t>
            </a:r>
          </a:p>
          <a:p>
            <a:pPr lvl="1">
              <a:defRPr sz="1800"/>
            </a:pPr>
            <a:r>
              <a:t>Comprehensive planning including hotels, food, and activities</a:t>
            </a:r>
          </a:p>
          <a:p>
            <a:pPr lvl="1">
              <a:defRPr sz="1800"/>
            </a:pPr>
            <a:r>
              <a:t>Budget-friendly recommendations</a:t>
            </a:r>
          </a:p>
          <a:p>
            <a:pPr lvl="1">
              <a:defRPr sz="1800"/>
            </a:pPr>
            <a:r>
              <a:t>User-friendly interface with modern design</a:t>
            </a:r>
          </a:p>
          <a:p>
            <a:pPr lvl="1">
              <a:defRPr sz="1800"/>
            </a:pPr>
            <a:r>
              <a:t>Multiple export formats for easy sharing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📅 Day-by-Day Itinerary Planning</a:t>
            </a:r>
          </a:p>
          <a:p>
            <a:pPr>
              <a:spcBef>
                <a:spcPts val="600"/>
              </a:spcBef>
              <a:defRPr sz="2000"/>
            </a:pPr>
            <a:r>
              <a:t>🏨 Smart Hotel Recommendations</a:t>
            </a:r>
          </a:p>
          <a:p>
            <a:pPr>
              <a:spcBef>
                <a:spcPts val="600"/>
              </a:spcBef>
              <a:defRPr sz="2000"/>
            </a:pPr>
            <a:r>
              <a:t>🍽️ Food &amp; Dining Suggestions</a:t>
            </a:r>
          </a:p>
          <a:p>
            <a:pPr>
              <a:spcBef>
                <a:spcPts val="600"/>
              </a:spcBef>
              <a:defRPr sz="2000"/>
            </a:pPr>
            <a:r>
              <a:t>🚗 Transportation Planning</a:t>
            </a:r>
          </a:p>
          <a:p>
            <a:pPr>
              <a:spcBef>
                <a:spcPts val="600"/>
              </a:spcBef>
              <a:defRPr sz="2000"/>
            </a:pPr>
            <a:r>
              <a:t>💰 Budget Breakdown &amp; Optimization</a:t>
            </a:r>
          </a:p>
          <a:p>
            <a:pPr>
              <a:spcBef>
                <a:spcPts val="600"/>
              </a:spcBef>
              <a:defRPr sz="2000"/>
            </a:pPr>
            <a:r>
              <a:t>🎯 Personalized Based on Interests</a:t>
            </a:r>
          </a:p>
          <a:p>
            <a:pPr>
              <a:spcBef>
                <a:spcPts val="600"/>
              </a:spcBef>
              <a:defRPr sz="2000"/>
            </a:pPr>
            <a:r>
              <a:t>📱 Multiple Travel Styles Support</a:t>
            </a:r>
          </a:p>
          <a:p>
            <a:pPr>
              <a:spcBef>
                <a:spcPts val="600"/>
              </a:spcBef>
              <a:defRPr sz="2000"/>
            </a:pPr>
            <a:r>
              <a:t>📥 Downloadable Itineraries (TXT, MD, JSON)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000"/>
              </a:spcBef>
              <a:defRPr sz="2200" b="1"/>
            </a:pPr>
            <a:r>
              <a:t>Frontend Framework</a:t>
            </a:r>
          </a:p>
          <a:p>
            <a:pPr lvl="1">
              <a:defRPr sz="1800"/>
            </a:pPr>
            <a:r>
              <a:t>Streamlit - Modern web framework for Python</a:t>
            </a:r>
          </a:p>
          <a:p>
            <a:pPr>
              <a:spcBef>
                <a:spcPts val="1000"/>
              </a:spcBef>
              <a:defRPr sz="2200" b="1"/>
            </a:pPr>
            <a:r>
              <a:t>AI &amp; Backend</a:t>
            </a:r>
          </a:p>
          <a:p>
            <a:pPr lvl="1">
              <a:defRPr sz="1800"/>
            </a:pPr>
            <a:r>
              <a:t>LangChain - AI orchestration framework</a:t>
            </a:r>
          </a:p>
          <a:p>
            <a:pPr lvl="1">
              <a:defRPr sz="1800"/>
            </a:pPr>
            <a:r>
              <a:t>Groq API (Mixtral-8x7B) - High-performance LLM</a:t>
            </a:r>
          </a:p>
          <a:p>
            <a:pPr>
              <a:spcBef>
                <a:spcPts val="1000"/>
              </a:spcBef>
              <a:defRPr sz="2200" b="1"/>
            </a:pPr>
            <a:r>
              <a:t>Programming Language</a:t>
            </a:r>
          </a:p>
          <a:p>
            <a:pPr lvl="1">
              <a:defRPr sz="1800"/>
            </a:pPr>
            <a:r>
              <a:t>Python 3.8+ with modern libraries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 b="1"/>
            </a:pPr>
            <a:r>
              <a:t>Presentation Layer</a:t>
            </a:r>
          </a:p>
          <a:p>
            <a:pPr lvl="1">
              <a:defRPr sz="1600"/>
            </a:pPr>
            <a:r>
              <a:t>Streamlit UI with responsive design</a:t>
            </a:r>
          </a:p>
          <a:p>
            <a:pPr>
              <a:spcBef>
                <a:spcPts val="800"/>
              </a:spcBef>
              <a:defRPr sz="2000" b="1"/>
            </a:pPr>
            <a:r>
              <a:t>Application Layer</a:t>
            </a:r>
          </a:p>
          <a:p>
            <a:pPr lvl="1">
              <a:defRPr sz="1600"/>
            </a:pPr>
            <a:r>
              <a:t>Business logic and state management</a:t>
            </a:r>
          </a:p>
          <a:p>
            <a:pPr>
              <a:spcBef>
                <a:spcPts val="800"/>
              </a:spcBef>
              <a:defRPr sz="2000" b="1"/>
            </a:pPr>
            <a:r>
              <a:t>AI Integration Layer</a:t>
            </a:r>
          </a:p>
          <a:p>
            <a:pPr lvl="1">
              <a:defRPr sz="1600"/>
            </a:pPr>
            <a:r>
              <a:t>LangChain orchestration and prompt engineering</a:t>
            </a:r>
          </a:p>
          <a:p>
            <a:pPr>
              <a:spcBef>
                <a:spcPts val="800"/>
              </a:spcBef>
              <a:defRPr sz="2000" b="1"/>
            </a:pPr>
            <a:r>
              <a:t>External Services Layer</a:t>
            </a:r>
          </a:p>
          <a:p>
            <a:pPr lvl="1">
              <a:defRPr sz="1600"/>
            </a:pPr>
            <a:r>
              <a:t>Groq API for language model inference</a:t>
            </a:r>
          </a:p>
          <a:p>
            <a:pPr>
              <a:spcBef>
                <a:spcPts val="800"/>
              </a:spcBef>
              <a:defRPr sz="2000" b="1"/>
            </a:pPr>
            <a:r>
              <a:t>Data Layer</a:t>
            </a:r>
          </a:p>
          <a:p>
            <a:pPr lvl="1">
              <a:defRPr sz="1600"/>
            </a:pPr>
            <a:r>
              <a:t>Session state and trip history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008000"/>
                </a:solidFill>
              </a:defRPr>
            </a:pPr>
            <a:r>
              <a:t>✅ Technical Feasibility</a:t>
            </a:r>
          </a:p>
          <a:p>
            <a:pPr lvl="1">
              <a:defRPr sz="1600"/>
            </a:pPr>
            <a:r>
              <a:t>Mature tech stack, well-documented APIs, scalable infrastructure</a:t>
            </a:r>
          </a:p>
          <a:p>
            <a:pPr>
              <a:spcBef>
                <a:spcPts val="1200"/>
              </a:spcBef>
              <a:defRPr sz="2400" b="1">
                <a:solidFill>
                  <a:srgbClr val="008000"/>
                </a:solidFill>
              </a:defRPr>
            </a:pPr>
            <a:r>
              <a:t>✅ Economic Feasibility</a:t>
            </a:r>
          </a:p>
          <a:p>
            <a:pPr lvl="1">
              <a:defRPr sz="1600"/>
            </a:pPr>
            <a:r>
              <a:t>Low initial investment, free/affordable tools, monetization potential</a:t>
            </a:r>
          </a:p>
          <a:p>
            <a:pPr>
              <a:spcBef>
                <a:spcPts val="1200"/>
              </a:spcBef>
              <a:defRPr sz="2400" b="1">
                <a:solidFill>
                  <a:srgbClr val="008000"/>
                </a:solidFill>
              </a:defRPr>
            </a:pPr>
            <a:r>
              <a:t>✅ Need &amp; Significance</a:t>
            </a:r>
          </a:p>
          <a:p>
            <a:pPr lvl="1">
              <a:defRPr sz="1600"/>
            </a:pPr>
            <a:r>
              <a:t>Growing travel market, time-saving solution, accessible to 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Phase 1: Requirements Analysis &amp; Design</a:t>
            </a:r>
          </a:p>
          <a:p>
            <a:pPr>
              <a:spcBef>
                <a:spcPts val="800"/>
              </a:spcBef>
              <a:defRPr sz="2000"/>
            </a:pPr>
            <a:r>
              <a:t>Phase 2: Environment Setup &amp; Configuration</a:t>
            </a:r>
          </a:p>
          <a:p>
            <a:pPr>
              <a:spcBef>
                <a:spcPts val="800"/>
              </a:spcBef>
              <a:defRPr sz="2000"/>
            </a:pPr>
            <a:r>
              <a:t>Phase 3: Core Development (UI &amp; AI Integration)</a:t>
            </a:r>
          </a:p>
          <a:p>
            <a:pPr>
              <a:spcBef>
                <a:spcPts val="800"/>
              </a:spcBef>
              <a:defRPr sz="2000"/>
            </a:pPr>
            <a:r>
              <a:t>Phase 4: Feature Implementation</a:t>
            </a:r>
          </a:p>
          <a:p>
            <a:pPr>
              <a:spcBef>
                <a:spcPts val="800"/>
              </a:spcBef>
              <a:defRPr sz="2000"/>
            </a:pPr>
            <a:r>
              <a:t>Phase 5: Testing &amp; Quality Assurance</a:t>
            </a:r>
          </a:p>
          <a:p>
            <a:pPr>
              <a:spcBef>
                <a:spcPts val="800"/>
              </a:spcBef>
              <a:defRPr sz="2000"/>
            </a:pPr>
            <a:r>
              <a:t>Phase 6: Deployment &amp; Documentation</a:t>
            </a:r>
          </a:p>
          <a:p>
            <a:pPr>
              <a:spcBef>
                <a:spcPts val="800"/>
              </a:spcBef>
              <a:defRPr sz="2000"/>
            </a:pPr>
            <a:r>
              <a:t>Phase 7: Maintenance &amp; Enhancement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Modern gradient design with purple theme</a:t>
            </a:r>
          </a:p>
          <a:p>
            <a:pPr>
              <a:spcBef>
                <a:spcPts val="600"/>
              </a:spcBef>
              <a:defRPr sz="2000"/>
            </a:pPr>
            <a:r>
              <a:t>Intuitive sidebar for trip planning inputs</a:t>
            </a:r>
          </a:p>
          <a:p>
            <a:pPr>
              <a:spcBef>
                <a:spcPts val="600"/>
              </a:spcBef>
              <a:defRPr sz="2000"/>
            </a:pPr>
            <a:r>
              <a:t>Interactive forms with real-time validation</a:t>
            </a:r>
          </a:p>
          <a:p>
            <a:pPr>
              <a:spcBef>
                <a:spcPts val="600"/>
              </a:spcBef>
              <a:defRPr sz="2000"/>
            </a:pPr>
            <a:r>
              <a:t>Responsive layout for all devices</a:t>
            </a:r>
          </a:p>
          <a:p>
            <a:pPr>
              <a:spcBef>
                <a:spcPts val="600"/>
              </a:spcBef>
              <a:defRPr sz="2000"/>
            </a:pPr>
            <a:r>
              <a:t>Tab-based navigation for organized content</a:t>
            </a:r>
          </a:p>
          <a:p>
            <a:pPr>
              <a:spcBef>
                <a:spcPts val="600"/>
              </a:spcBef>
              <a:defRPr sz="2000"/>
            </a:pPr>
            <a:r>
              <a:t>Download buttons for multiple formats</a:t>
            </a:r>
          </a:p>
          <a:p>
            <a:pPr>
              <a:spcBef>
                <a:spcPts val="600"/>
              </a:spcBef>
              <a:defRPr sz="2000"/>
            </a:pPr>
            <a:r>
              <a:t>Trip history tracking</a:t>
            </a:r>
          </a:p>
          <a:p>
            <a:pPr>
              <a:spcBef>
                <a:spcPts val="600"/>
              </a:spcBef>
              <a:defRPr sz="2000"/>
            </a:pPr>
            <a:r>
              <a:t>Comprehensive travel tips section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State management using Streamlit session state</a:t>
            </a:r>
          </a:p>
          <a:p>
            <a:pPr>
              <a:spcBef>
                <a:spcPts val="600"/>
              </a:spcBef>
              <a:defRPr sz="2000"/>
            </a:pPr>
            <a:r>
              <a:t>AI prompt engineering for quality itineraries</a:t>
            </a:r>
          </a:p>
          <a:p>
            <a:pPr>
              <a:spcBef>
                <a:spcPts val="600"/>
              </a:spcBef>
              <a:defRPr sz="2000"/>
            </a:pPr>
            <a:r>
              <a:t>Dynamic budget calculations</a:t>
            </a:r>
          </a:p>
          <a:p>
            <a:pPr>
              <a:spcBef>
                <a:spcPts val="600"/>
              </a:spcBef>
              <a:defRPr sz="2000"/>
            </a:pPr>
            <a:r>
              <a:t>Multi-format export system (TXT, MD, JSON)</a:t>
            </a:r>
          </a:p>
          <a:p>
            <a:pPr>
              <a:spcBef>
                <a:spcPts val="600"/>
              </a:spcBef>
              <a:defRPr sz="2000"/>
            </a:pPr>
            <a:r>
              <a:t>Trip history persistence</a:t>
            </a:r>
          </a:p>
          <a:p>
            <a:pPr>
              <a:spcBef>
                <a:spcPts val="600"/>
              </a:spcBef>
              <a:defRPr sz="2000"/>
            </a:pPr>
            <a:r>
              <a:t>Error handling and validation</a:t>
            </a:r>
          </a:p>
          <a:p>
            <a:pPr>
              <a:spcBef>
                <a:spcPts val="600"/>
              </a:spcBef>
              <a:defRPr sz="2000"/>
            </a:pPr>
            <a:r>
              <a:t>Responsive UI components</a:t>
            </a:r>
          </a:p>
          <a:p>
            <a:pPr>
              <a:spcBef>
                <a:spcPts val="600"/>
              </a:spcBef>
              <a:defRPr sz="2000"/>
            </a:pPr>
            <a:r>
              <a:t>Deployed on Streamlit Cloud for easy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/>
            </a:pPr>
            <a:r>
              <a:t>Hardware Requirements</a:t>
            </a:r>
          </a:p>
          <a:p>
            <a:pPr lvl="1">
              <a:defRPr sz="1600"/>
            </a:pPr>
            <a:r>
              <a:t>Core i5+ processor, 8GB+ RAM, 256GB+ SSD, Broadband internet</a:t>
            </a:r>
          </a:p>
          <a:p>
            <a:pPr>
              <a:spcBef>
                <a:spcPts val="1200"/>
              </a:spcBef>
              <a:defRPr sz="2400" b="1"/>
            </a:pPr>
            <a:r>
              <a:t>Software Requirements</a:t>
            </a:r>
          </a:p>
          <a:p>
            <a:pPr lvl="1">
              <a:defRPr sz="1600"/>
            </a:pPr>
            <a:r>
              <a:t>Python 3.8+, Streamlit, LangChain</a:t>
            </a:r>
          </a:p>
          <a:p>
            <a:pPr lvl="1">
              <a:defRPr sz="1600"/>
            </a:pPr>
            <a:r>
              <a:t>Groq API, python-dotenv</a:t>
            </a:r>
          </a:p>
          <a:p>
            <a:pPr lvl="1">
              <a:defRPr sz="1600"/>
            </a:pPr>
            <a:r>
              <a:t>Git, VS Code, Modern web browser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200"/>
            </a:pPr>
            <a:r>
              <a:t>⏱️ Saves hours of manual planning time</a:t>
            </a:r>
          </a:p>
          <a:p>
            <a:pPr>
              <a:spcBef>
                <a:spcPts val="800"/>
              </a:spcBef>
              <a:defRPr sz="2200"/>
            </a:pPr>
            <a:r>
              <a:t>💡 Provides expert-level travel recommendations</a:t>
            </a:r>
          </a:p>
          <a:p>
            <a:pPr>
              <a:spcBef>
                <a:spcPts val="800"/>
              </a:spcBef>
              <a:defRPr sz="2200"/>
            </a:pPr>
            <a:r>
              <a:t>💰 Optimizes budget with detailed breakdowns</a:t>
            </a:r>
          </a:p>
          <a:p>
            <a:pPr>
              <a:spcBef>
                <a:spcPts val="800"/>
              </a:spcBef>
              <a:defRPr sz="2200"/>
            </a:pPr>
            <a:r>
              <a:t>🎯 Personalizes itineraries based on preferences</a:t>
            </a:r>
          </a:p>
          <a:p>
            <a:pPr>
              <a:spcBef>
                <a:spcPts val="800"/>
              </a:spcBef>
              <a:defRPr sz="2200"/>
            </a:pPr>
            <a:r>
              <a:t>🌍 Supports global destinations</a:t>
            </a:r>
          </a:p>
          <a:p>
            <a:pPr>
              <a:spcBef>
                <a:spcPts val="800"/>
              </a:spcBef>
              <a:defRPr sz="2200"/>
            </a:pPr>
            <a:r>
              <a:t>📱 Accessible anywhere with internet</a:t>
            </a:r>
          </a:p>
          <a:p>
            <a:pPr>
              <a:spcBef>
                <a:spcPts val="800"/>
              </a:spcBef>
              <a:defRPr sz="2200"/>
            </a:pPr>
            <a:r>
              <a:t>🔄 Keeps trip history for reference</a:t>
            </a:r>
          </a:p>
          <a:p>
            <a:pPr>
              <a:spcBef>
                <a:spcPts val="800"/>
              </a:spcBef>
              <a:defRPr sz="2200"/>
            </a:pPr>
            <a:r>
              <a:t>🎨 User-friendly and visually appealing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Real-time flight and hotel booking integration</a:t>
            </a:r>
          </a:p>
          <a:p>
            <a:pPr>
              <a:spcBef>
                <a:spcPts val="600"/>
              </a:spcBef>
              <a:defRPr sz="2000"/>
            </a:pPr>
            <a:r>
              <a:t>Weather forecasting and alerts</a:t>
            </a:r>
          </a:p>
          <a:p>
            <a:pPr>
              <a:spcBef>
                <a:spcPts val="600"/>
              </a:spcBef>
              <a:defRPr sz="2000"/>
            </a:pPr>
            <a:r>
              <a:t>Collaborative trip planning for groups</a:t>
            </a:r>
          </a:p>
          <a:p>
            <a:pPr>
              <a:spcBef>
                <a:spcPts val="600"/>
              </a:spcBef>
              <a:defRPr sz="2000"/>
            </a:pPr>
            <a:r>
              <a:t>Mobile application (iOS &amp; Android)</a:t>
            </a:r>
          </a:p>
          <a:p>
            <a:pPr>
              <a:spcBef>
                <a:spcPts val="600"/>
              </a:spcBef>
              <a:defRPr sz="2000"/>
            </a:pPr>
            <a:r>
              <a:t>Integration with maps and navigation</a:t>
            </a:r>
          </a:p>
          <a:p>
            <a:pPr>
              <a:spcBef>
                <a:spcPts val="600"/>
              </a:spcBef>
              <a:defRPr sz="2000"/>
            </a:pPr>
            <a:r>
              <a:t>Social sharing and community reviews</a:t>
            </a:r>
          </a:p>
          <a:p>
            <a:pPr>
              <a:spcBef>
                <a:spcPts val="600"/>
              </a:spcBef>
              <a:defRPr sz="2000"/>
            </a:pPr>
            <a:r>
              <a:t>Multi-language support</a:t>
            </a:r>
          </a:p>
          <a:p>
            <a:pPr>
              <a:spcBef>
                <a:spcPts val="600"/>
              </a:spcBef>
              <a:defRPr sz="2000"/>
            </a:pPr>
            <a:r>
              <a:t>Offline itinerary access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600" b="1">
                <a:solidFill>
                  <a:srgbClr val="667EEA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200"/>
              </a:spcBef>
              <a:defRPr sz="2400"/>
            </a:pPr>
            <a:r>
              <a:t>SafarSathi - AI Travel Planner</a:t>
            </a:r>
          </a:p>
          <a:p>
            <a:pPr algn="ctr">
              <a:spcBef>
                <a:spcPts val="1200"/>
              </a:spcBef>
              <a:defRPr sz="2400"/>
            </a:pPr>
            <a:r>
              <a:t>✈️ Your Journey, Our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7EEA"/>
                </a:solidFill>
              </a:defRPr>
            </a:pPr>
            <a:r>
              <a:t>https://safarsathi-3f9ghvrebapp2ijthmfaxe2.streamlit.app/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